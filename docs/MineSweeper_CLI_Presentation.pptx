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4" r:id="rId2"/>
    <p:sldId id="270" r:id="rId3"/>
    <p:sldId id="441" r:id="rId4"/>
    <p:sldId id="466" r:id="rId5"/>
    <p:sldId id="467" r:id="rId6"/>
    <p:sldId id="468" r:id="rId7"/>
    <p:sldId id="473" r:id="rId8"/>
    <p:sldId id="471" r:id="rId9"/>
    <p:sldId id="476" r:id="rId10"/>
    <p:sldId id="477" r:id="rId11"/>
    <p:sldId id="474" r:id="rId12"/>
    <p:sldId id="475" r:id="rId13"/>
    <p:sldId id="478" r:id="rId14"/>
    <p:sldId id="469" r:id="rId15"/>
    <p:sldId id="4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4CB7DC7-64BA-49B4-A34F-8C42B50485A0}">
          <p14:sldIdLst>
            <p14:sldId id="264"/>
            <p14:sldId id="270"/>
            <p14:sldId id="441"/>
            <p14:sldId id="466"/>
            <p14:sldId id="467"/>
            <p14:sldId id="468"/>
            <p14:sldId id="473"/>
            <p14:sldId id="471"/>
            <p14:sldId id="476"/>
            <p14:sldId id="477"/>
            <p14:sldId id="474"/>
            <p14:sldId id="475"/>
            <p14:sldId id="478"/>
            <p14:sldId id="469"/>
            <p14:sldId id="4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gesh Sharma" initials="YS" lastIdx="2" clrIdx="0">
    <p:extLst>
      <p:ext uri="{19B8F6BF-5375-455C-9EA6-DF929625EA0E}">
        <p15:presenceInfo xmlns:p15="http://schemas.microsoft.com/office/powerpoint/2012/main" userId="Yogesh Sharm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FF"/>
    <a:srgbClr val="124734"/>
    <a:srgbClr val="0266FF"/>
    <a:srgbClr val="005937"/>
    <a:srgbClr val="FFC6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7BBE99-CBBB-1841-A933-19445768D7CC}" v="1" dt="2024-07-19T20:55:52.3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0"/>
    <p:restoredTop sz="84626"/>
  </p:normalViewPr>
  <p:slideViewPr>
    <p:cSldViewPr snapToGrid="0" showGuides="1">
      <p:cViewPr varScale="1">
        <p:scale>
          <a:sx n="93" d="100"/>
          <a:sy n="93" d="100"/>
        </p:scale>
        <p:origin x="10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Sharma" userId="b1a13ba1-1220-4868-8df6-0ea3b3d071e3" providerId="ADAL" clId="{BC7BBE99-CBBB-1841-A933-19445768D7CC}"/>
    <pc:docChg chg="undo custSel addSld modSld">
      <pc:chgData name="Yogesh Sharma" userId="b1a13ba1-1220-4868-8df6-0ea3b3d071e3" providerId="ADAL" clId="{BC7BBE99-CBBB-1841-A933-19445768D7CC}" dt="2024-07-19T21:14:55.452" v="495" actId="108"/>
      <pc:docMkLst>
        <pc:docMk/>
      </pc:docMkLst>
      <pc:sldChg chg="modSp mod">
        <pc:chgData name="Yogesh Sharma" userId="b1a13ba1-1220-4868-8df6-0ea3b3d071e3" providerId="ADAL" clId="{BC7BBE99-CBBB-1841-A933-19445768D7CC}" dt="2024-07-19T21:14:55.452" v="495" actId="108"/>
        <pc:sldMkLst>
          <pc:docMk/>
          <pc:sldMk cId="494398413" sldId="270"/>
        </pc:sldMkLst>
        <pc:spChg chg="mod">
          <ac:chgData name="Yogesh Sharma" userId="b1a13ba1-1220-4868-8df6-0ea3b3d071e3" providerId="ADAL" clId="{BC7BBE99-CBBB-1841-A933-19445768D7CC}" dt="2024-07-19T21:14:55.452" v="495" actId="108"/>
          <ac:spMkLst>
            <pc:docMk/>
            <pc:sldMk cId="494398413" sldId="270"/>
            <ac:spMk id="2" creationId="{5934B8BB-DC60-91D9-BB97-CD0ED7A48A66}"/>
          </ac:spMkLst>
        </pc:spChg>
      </pc:sldChg>
      <pc:sldChg chg="modNotesTx">
        <pc:chgData name="Yogesh Sharma" userId="b1a13ba1-1220-4868-8df6-0ea3b3d071e3" providerId="ADAL" clId="{BC7BBE99-CBBB-1841-A933-19445768D7CC}" dt="2024-07-19T20:54:07.996" v="0" actId="6549"/>
        <pc:sldMkLst>
          <pc:docMk/>
          <pc:sldMk cId="2955999227" sldId="441"/>
        </pc:sldMkLst>
      </pc:sldChg>
      <pc:sldChg chg="modNotesTx">
        <pc:chgData name="Yogesh Sharma" userId="b1a13ba1-1220-4868-8df6-0ea3b3d071e3" providerId="ADAL" clId="{BC7BBE99-CBBB-1841-A933-19445768D7CC}" dt="2024-07-19T20:54:17.771" v="1" actId="6549"/>
        <pc:sldMkLst>
          <pc:docMk/>
          <pc:sldMk cId="2486635905" sldId="466"/>
        </pc:sldMkLst>
      </pc:sldChg>
      <pc:sldChg chg="modSp mod modNotesTx">
        <pc:chgData name="Yogesh Sharma" userId="b1a13ba1-1220-4868-8df6-0ea3b3d071e3" providerId="ADAL" clId="{BC7BBE99-CBBB-1841-A933-19445768D7CC}" dt="2024-07-19T20:54:39.055" v="6" actId="6549"/>
        <pc:sldMkLst>
          <pc:docMk/>
          <pc:sldMk cId="778958909" sldId="467"/>
        </pc:sldMkLst>
        <pc:spChg chg="mod">
          <ac:chgData name="Yogesh Sharma" userId="b1a13ba1-1220-4868-8df6-0ea3b3d071e3" providerId="ADAL" clId="{BC7BBE99-CBBB-1841-A933-19445768D7CC}" dt="2024-07-19T20:54:32.070" v="5" actId="179"/>
          <ac:spMkLst>
            <pc:docMk/>
            <pc:sldMk cId="778958909" sldId="467"/>
            <ac:spMk id="19" creationId="{0BF0A91F-A47F-14DF-D7A0-2910C289322F}"/>
          </ac:spMkLst>
        </pc:spChg>
      </pc:sldChg>
      <pc:sldChg chg="modSp mod">
        <pc:chgData name="Yogesh Sharma" userId="b1a13ba1-1220-4868-8df6-0ea3b3d071e3" providerId="ADAL" clId="{BC7BBE99-CBBB-1841-A933-19445768D7CC}" dt="2024-07-19T20:55:36.754" v="33" actId="20577"/>
        <pc:sldMkLst>
          <pc:docMk/>
          <pc:sldMk cId="100100950" sldId="468"/>
        </pc:sldMkLst>
        <pc:spChg chg="mod">
          <ac:chgData name="Yogesh Sharma" userId="b1a13ba1-1220-4868-8df6-0ea3b3d071e3" providerId="ADAL" clId="{BC7BBE99-CBBB-1841-A933-19445768D7CC}" dt="2024-07-19T20:55:36.754" v="33" actId="20577"/>
          <ac:spMkLst>
            <pc:docMk/>
            <pc:sldMk cId="100100950" sldId="468"/>
            <ac:spMk id="19" creationId="{0BF0A91F-A47F-14DF-D7A0-2910C289322F}"/>
          </ac:spMkLst>
        </pc:spChg>
      </pc:sldChg>
      <pc:sldChg chg="modNotesTx">
        <pc:chgData name="Yogesh Sharma" userId="b1a13ba1-1220-4868-8df6-0ea3b3d071e3" providerId="ADAL" clId="{BC7BBE99-CBBB-1841-A933-19445768D7CC}" dt="2024-07-19T20:55:46.607" v="34" actId="6549"/>
        <pc:sldMkLst>
          <pc:docMk/>
          <pc:sldMk cId="3988506643" sldId="469"/>
        </pc:sldMkLst>
      </pc:sldChg>
      <pc:sldChg chg="modNotesTx">
        <pc:chgData name="Yogesh Sharma" userId="b1a13ba1-1220-4868-8df6-0ea3b3d071e3" providerId="ADAL" clId="{BC7BBE99-CBBB-1841-A933-19445768D7CC}" dt="2024-07-19T20:59:48.422" v="468" actId="6549"/>
        <pc:sldMkLst>
          <pc:docMk/>
          <pc:sldMk cId="2852486199" sldId="470"/>
        </pc:sldMkLst>
      </pc:sldChg>
      <pc:sldChg chg="modSp add mod">
        <pc:chgData name="Yogesh Sharma" userId="b1a13ba1-1220-4868-8df6-0ea3b3d071e3" providerId="ADAL" clId="{BC7BBE99-CBBB-1841-A933-19445768D7CC}" dt="2024-07-19T20:59:36.947" v="467" actId="20577"/>
        <pc:sldMkLst>
          <pc:docMk/>
          <pc:sldMk cId="148938224" sldId="471"/>
        </pc:sldMkLst>
        <pc:spChg chg="mod">
          <ac:chgData name="Yogesh Sharma" userId="b1a13ba1-1220-4868-8df6-0ea3b3d071e3" providerId="ADAL" clId="{BC7BBE99-CBBB-1841-A933-19445768D7CC}" dt="2024-07-19T20:58:56.022" v="320" actId="20577"/>
          <ac:spMkLst>
            <pc:docMk/>
            <pc:sldMk cId="148938224" sldId="471"/>
            <ac:spMk id="3" creationId="{FFB4080A-A6CB-D688-BD08-2D3DEDC7D4C4}"/>
          </ac:spMkLst>
        </pc:spChg>
        <pc:spChg chg="mod">
          <ac:chgData name="Yogesh Sharma" userId="b1a13ba1-1220-4868-8df6-0ea3b3d071e3" providerId="ADAL" clId="{BC7BBE99-CBBB-1841-A933-19445768D7CC}" dt="2024-07-19T20:59:36.947" v="467" actId="20577"/>
          <ac:spMkLst>
            <pc:docMk/>
            <pc:sldMk cId="148938224" sldId="471"/>
            <ac:spMk id="19" creationId="{0BF0A91F-A47F-14DF-D7A0-2910C289322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C854F9-4B15-47AF-BA13-0E62D59F12FF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F88A7-2010-4E1A-900C-64B8A1752E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3628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3061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1059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2416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2035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4132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628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4948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1F88A7-2010-4E1A-900C-64B8A1752EB8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0631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5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text, swimming, ocean floor  Description automatically generated">
            <a:extLst>
              <a:ext uri="{FF2B5EF4-FFF2-40B4-BE49-F238E27FC236}">
                <a16:creationId xmlns:a16="http://schemas.microsoft.com/office/drawing/2014/main" id="{0D6BB804-59F9-6E31-FCE8-2C51359AFD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34518D-BC5E-6CF1-4596-C7A385B36A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72319"/>
            <a:ext cx="10734040" cy="1655762"/>
          </a:xfrm>
          <a:prstGeom prst="rect">
            <a:avLst/>
          </a:prstGeom>
        </p:spPr>
        <p:txBody>
          <a:bodyPr anchor="t"/>
          <a:lstStyle>
            <a:lvl1pPr algn="l">
              <a:defRPr sz="6000" b="0" i="0">
                <a:solidFill>
                  <a:srgbClr val="FFC6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TITLE OF POWERPOINT</a:t>
            </a:r>
            <a:b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</a:br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94E0B-A687-78B3-9EAC-8ADD81FA42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601119"/>
            <a:ext cx="10734040" cy="9853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Faculty Name </a:t>
            </a:r>
            <a:br>
              <a:rPr lang="en-CA" dirty="0">
                <a:effectLst/>
                <a:latin typeface="Arial" panose="020B0604020202020204" pitchFamily="34" charset="0"/>
              </a:rPr>
            </a:br>
            <a:r>
              <a:rPr lang="en-CA" dirty="0">
                <a:effectLst/>
                <a:latin typeface="Arial" panose="020B0604020202020204" pitchFamily="34" charset="0"/>
              </a:rPr>
              <a:t>Appears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>
            <a:off x="0" y="5618480"/>
            <a:ext cx="6096000" cy="934720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E73E0-ABF0-1B57-F249-0B5D0A559993}"/>
              </a:ext>
            </a:extLst>
          </p:cNvPr>
          <p:cNvSpPr/>
          <p:nvPr userDrawn="1"/>
        </p:nvSpPr>
        <p:spPr>
          <a:xfrm>
            <a:off x="6096000" y="5618320"/>
            <a:ext cx="60960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34200" y="5757623"/>
            <a:ext cx="3967566" cy="656115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2AD2460-454C-36AF-DD2D-0083AA7467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3280" y="5811201"/>
            <a:ext cx="4643120" cy="54895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b="1" dirty="0">
                <a:latin typeface="Arial" panose="020B0604020202020204" pitchFamily="34" charset="0"/>
              </a:rPr>
              <a:t>Date XX, 20XX</a:t>
            </a:r>
            <a:endParaRPr lang="en-CA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202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rgbClr val="005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EE796C1-7E0F-70FF-A4F1-5C4B68B36C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81"/>
            <a:ext cx="12192000" cy="56181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0"/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>
            <a:off x="0" y="5618480"/>
            <a:ext cx="6096000" cy="934720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E73E0-ABF0-1B57-F249-0B5D0A559993}"/>
              </a:ext>
            </a:extLst>
          </p:cNvPr>
          <p:cNvSpPr/>
          <p:nvPr userDrawn="1"/>
        </p:nvSpPr>
        <p:spPr>
          <a:xfrm>
            <a:off x="6096000" y="5618320"/>
            <a:ext cx="60960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4200" y="5757623"/>
            <a:ext cx="3967566" cy="65611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813434B-6344-5A91-7FA4-A5004FDECB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72319"/>
            <a:ext cx="11028680" cy="1655762"/>
          </a:xfrm>
          <a:prstGeom prst="rect">
            <a:avLst/>
          </a:prstGeom>
        </p:spPr>
        <p:txBody>
          <a:bodyPr anchor="t"/>
          <a:lstStyle>
            <a:lvl1pPr algn="l">
              <a:defRPr sz="6000" b="0" i="0">
                <a:solidFill>
                  <a:srgbClr val="FFC6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TITLE OF POWERPOINT</a:t>
            </a:r>
            <a:b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</a:br>
            <a:r>
              <a:rPr lang="en-CA" dirty="0">
                <a:solidFill>
                  <a:srgbClr val="FFC529"/>
                </a:solidFill>
                <a:effectLst/>
                <a:latin typeface="Arial" panose="020B0604020202020204" pitchFamily="34" charset="0"/>
              </a:rPr>
              <a:t>PRESENTATION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3397238-2328-4352-1279-40F657DCCE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601119"/>
            <a:ext cx="5054600" cy="9853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Faculty Name </a:t>
            </a:r>
            <a:br>
              <a:rPr lang="en-CA" dirty="0">
                <a:effectLst/>
                <a:latin typeface="Arial" panose="020B0604020202020204" pitchFamily="34" charset="0"/>
              </a:rPr>
            </a:br>
            <a:r>
              <a:rPr lang="en-CA" dirty="0">
                <a:effectLst/>
                <a:latin typeface="Arial" panose="020B0604020202020204" pitchFamily="34" charset="0"/>
              </a:rPr>
              <a:t>Appears Here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0A0FEFBC-F75A-9C95-6EB4-F70728189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3280" y="5811201"/>
            <a:ext cx="4683760" cy="54895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b="1" dirty="0">
                <a:latin typeface="Arial" panose="020B0604020202020204" pitchFamily="34" charset="0"/>
              </a:rPr>
              <a:t>Date XX, 20XX</a:t>
            </a:r>
            <a:endParaRPr lang="en-CA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306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>
            <a:off x="0" y="5618480"/>
            <a:ext cx="6096000" cy="934720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E73E0-ABF0-1B57-F249-0B5D0A559993}"/>
              </a:ext>
            </a:extLst>
          </p:cNvPr>
          <p:cNvSpPr/>
          <p:nvPr userDrawn="1"/>
        </p:nvSpPr>
        <p:spPr>
          <a:xfrm>
            <a:off x="6096000" y="5618320"/>
            <a:ext cx="60960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4200" y="5757623"/>
            <a:ext cx="3967566" cy="656115"/>
          </a:xfrm>
          <a:prstGeom prst="rect">
            <a:avLst/>
          </a:prstGeom>
        </p:spPr>
      </p:pic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0A0FEFBC-F75A-9C95-6EB4-F70728189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3280" y="5811201"/>
            <a:ext cx="4683760" cy="54895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b="1" dirty="0">
                <a:latin typeface="Arial" panose="020B0604020202020204" pitchFamily="34" charset="0"/>
              </a:rPr>
              <a:t>Date XX, 20XX</a:t>
            </a:r>
            <a:endParaRPr lang="en-CA" dirty="0">
              <a:latin typeface="Arial" panose="020B0604020202020204" pitchFamily="34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E3C3D3C-6CE4-3AAB-32B0-9B9BD98F94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2601120"/>
            <a:ext cx="8068310" cy="9853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Faculty Name </a:t>
            </a:r>
            <a:br>
              <a:rPr lang="en-CA" dirty="0">
                <a:effectLst/>
                <a:latin typeface="Arial" panose="020B0604020202020204" pitchFamily="34" charset="0"/>
              </a:rPr>
            </a:br>
            <a:r>
              <a:rPr lang="en-CA" dirty="0">
                <a:effectLst/>
                <a:latin typeface="Arial" panose="020B0604020202020204" pitchFamily="34" charset="0"/>
              </a:rPr>
              <a:t>Appears Here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1DCA7C0-9A0E-28E0-8214-51A3691098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707866"/>
            <a:ext cx="11170868" cy="1700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rgbClr val="1247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OF POWERPOINT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284405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894E0B-A687-78B3-9EAC-8ADD81FA42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839433"/>
            <a:ext cx="5816600" cy="420052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 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Ut </a:t>
            </a:r>
            <a:r>
              <a:rPr lang="en-CA" dirty="0" err="1">
                <a:effectLst/>
                <a:latin typeface="Arial" panose="020B0604020202020204" pitchFamily="34" charset="0"/>
              </a:rPr>
              <a:t>enim</a:t>
            </a:r>
            <a:r>
              <a:rPr lang="en-CA" dirty="0">
                <a:effectLst/>
                <a:latin typeface="Arial" panose="020B0604020202020204" pitchFamily="34" charset="0"/>
              </a:rPr>
              <a:t> ad minim </a:t>
            </a:r>
            <a:r>
              <a:rPr lang="en-CA" dirty="0" err="1">
                <a:effectLst/>
                <a:latin typeface="Arial" panose="020B0604020202020204" pitchFamily="34" charset="0"/>
              </a:rPr>
              <a:t>veniam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quis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nostrud</a:t>
            </a:r>
            <a:r>
              <a:rPr lang="en-CA" dirty="0">
                <a:effectLst/>
                <a:latin typeface="Arial" panose="020B0604020202020204" pitchFamily="34" charset="0"/>
              </a:rPr>
              <a:t> exercitation </a:t>
            </a:r>
            <a:r>
              <a:rPr lang="en-CA" dirty="0" err="1">
                <a:effectLst/>
                <a:latin typeface="Arial" panose="020B0604020202020204" pitchFamily="34" charset="0"/>
              </a:rPr>
              <a:t>ullamco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laboris</a:t>
            </a:r>
            <a:r>
              <a:rPr lang="en-CA" dirty="0">
                <a:effectLst/>
                <a:latin typeface="Arial" panose="020B0604020202020204" pitchFamily="34" charset="0"/>
              </a:rPr>
              <a:t> nisi </a:t>
            </a:r>
            <a:r>
              <a:rPr lang="en-CA" dirty="0" err="1">
                <a:effectLst/>
                <a:latin typeface="Arial" panose="020B0604020202020204" pitchFamily="34" charset="0"/>
              </a:rPr>
              <a:t>ut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aliquip</a:t>
            </a:r>
            <a:r>
              <a:rPr lang="en-CA" dirty="0">
                <a:effectLst/>
                <a:latin typeface="Arial" panose="020B0604020202020204" pitchFamily="34" charset="0"/>
              </a:rPr>
              <a:t> ex </a:t>
            </a:r>
            <a:r>
              <a:rPr lang="en-CA" dirty="0" err="1">
                <a:effectLst/>
                <a:latin typeface="Arial" panose="020B0604020202020204" pitchFamily="34" charset="0"/>
              </a:rPr>
              <a:t>ea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commodo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consequat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 </a:t>
            </a:r>
            <a:r>
              <a:rPr lang="en-CA" dirty="0" err="1">
                <a:effectLst/>
                <a:latin typeface="Arial" panose="020B0604020202020204" pitchFamily="34" charset="0"/>
              </a:rPr>
              <a:t>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 flipV="1">
            <a:off x="0" y="6457687"/>
            <a:ext cx="9544833" cy="45719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77400" y="6291102"/>
            <a:ext cx="2291166" cy="378889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D365E25-E7E3-9C61-2A8E-E7365A596E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54241" y="1839913"/>
            <a:ext cx="4439920" cy="42005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375A2175-C58A-49B1-FE6A-82AD91D11B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706810"/>
            <a:ext cx="10855961" cy="7463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>
                <a:solidFill>
                  <a:srgbClr val="1247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&amp; CONTENT HEADER</a:t>
            </a:r>
          </a:p>
        </p:txBody>
      </p:sp>
    </p:spTree>
    <p:extLst>
      <p:ext uri="{BB962C8B-B14F-4D97-AF65-F5344CB8AC3E}">
        <p14:creationId xmlns:p14="http://schemas.microsoft.com/office/powerpoint/2010/main" val="23997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894E0B-A687-78B3-9EAC-8ADD81FA42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839433"/>
            <a:ext cx="10490200" cy="4200529"/>
          </a:xfrm>
          <a:prstGeom prst="rect">
            <a:avLst/>
          </a:prstGeom>
        </p:spPr>
        <p:txBody>
          <a:bodyPr/>
          <a:lstStyle>
            <a:lvl1pPr marL="342900" indent="-342900" algn="l">
              <a:lnSpc>
                <a:spcPct val="100000"/>
              </a:lnSpc>
              <a:buClr>
                <a:srgbClr val="FFC629"/>
              </a:buClr>
              <a:buFont typeface="Arial" panose="020B0604020202020204" pitchFamily="34" charset="0"/>
              <a:buChar char="•"/>
              <a:defRPr sz="2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 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Ut </a:t>
            </a:r>
            <a:r>
              <a:rPr lang="en-CA" dirty="0" err="1">
                <a:effectLst/>
                <a:latin typeface="Arial" panose="020B0604020202020204" pitchFamily="34" charset="0"/>
              </a:rPr>
              <a:t>enim</a:t>
            </a:r>
            <a:r>
              <a:rPr lang="en-CA" dirty="0">
                <a:effectLst/>
                <a:latin typeface="Arial" panose="020B0604020202020204" pitchFamily="34" charset="0"/>
              </a:rPr>
              <a:t> ad minim </a:t>
            </a:r>
            <a:r>
              <a:rPr lang="en-CA" dirty="0" err="1">
                <a:effectLst/>
                <a:latin typeface="Arial" panose="020B0604020202020204" pitchFamily="34" charset="0"/>
              </a:rPr>
              <a:t>veniam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quis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nostrud</a:t>
            </a:r>
            <a:r>
              <a:rPr lang="en-CA" dirty="0">
                <a:effectLst/>
                <a:latin typeface="Arial" panose="020B0604020202020204" pitchFamily="34" charset="0"/>
              </a:rPr>
              <a:t> exercitation </a:t>
            </a:r>
            <a:r>
              <a:rPr lang="en-CA" dirty="0" err="1">
                <a:effectLst/>
                <a:latin typeface="Arial" panose="020B0604020202020204" pitchFamily="34" charset="0"/>
              </a:rPr>
              <a:t>ullamco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laboris</a:t>
            </a:r>
            <a:r>
              <a:rPr lang="en-CA" dirty="0">
                <a:effectLst/>
                <a:latin typeface="Arial" panose="020B0604020202020204" pitchFamily="34" charset="0"/>
              </a:rPr>
              <a:t> nisi </a:t>
            </a:r>
            <a:r>
              <a:rPr lang="en-CA" dirty="0" err="1">
                <a:effectLst/>
                <a:latin typeface="Arial" panose="020B0604020202020204" pitchFamily="34" charset="0"/>
              </a:rPr>
              <a:t>ut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aliquip</a:t>
            </a:r>
            <a:r>
              <a:rPr lang="en-CA" dirty="0">
                <a:effectLst/>
                <a:latin typeface="Arial" panose="020B0604020202020204" pitchFamily="34" charset="0"/>
              </a:rPr>
              <a:t> ex </a:t>
            </a:r>
            <a:r>
              <a:rPr lang="en-CA" dirty="0" err="1">
                <a:effectLst/>
                <a:latin typeface="Arial" panose="020B0604020202020204" pitchFamily="34" charset="0"/>
              </a:rPr>
              <a:t>ea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commodo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consequat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tempor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incididunt</a:t>
            </a:r>
            <a:r>
              <a:rPr lang="en-CA" dirty="0">
                <a:effectLst/>
                <a:latin typeface="Arial" panose="020B0604020202020204" pitchFamily="34" charset="0"/>
              </a:rPr>
              <a:t> labore et dolore magna </a:t>
            </a:r>
            <a:r>
              <a:rPr lang="en-CA" dirty="0" err="1">
                <a:effectLst/>
                <a:latin typeface="Arial" panose="020B0604020202020204" pitchFamily="34" charset="0"/>
              </a:rPr>
              <a:t>aliqua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Ut </a:t>
            </a:r>
            <a:r>
              <a:rPr lang="en-CA" dirty="0" err="1">
                <a:effectLst/>
                <a:latin typeface="Arial" panose="020B0604020202020204" pitchFamily="34" charset="0"/>
              </a:rPr>
              <a:t>enim</a:t>
            </a:r>
            <a:r>
              <a:rPr lang="en-CA" dirty="0">
                <a:effectLst/>
                <a:latin typeface="Arial" panose="020B0604020202020204" pitchFamily="34" charset="0"/>
              </a:rPr>
              <a:t> ad minim </a:t>
            </a:r>
            <a:r>
              <a:rPr lang="en-CA" dirty="0" err="1">
                <a:effectLst/>
                <a:latin typeface="Arial" panose="020B0604020202020204" pitchFamily="34" charset="0"/>
              </a:rPr>
              <a:t>veniam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quis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nostrud</a:t>
            </a:r>
            <a:r>
              <a:rPr lang="en-CA" dirty="0">
                <a:effectLst/>
                <a:latin typeface="Arial" panose="020B0604020202020204" pitchFamily="34" charset="0"/>
              </a:rPr>
              <a:t> exercitation </a:t>
            </a:r>
            <a:r>
              <a:rPr lang="en-CA" dirty="0" err="1">
                <a:effectLst/>
                <a:latin typeface="Arial" panose="020B0604020202020204" pitchFamily="34" charset="0"/>
              </a:rPr>
              <a:t>ullamco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laboris</a:t>
            </a:r>
            <a:r>
              <a:rPr lang="en-CA" dirty="0">
                <a:effectLst/>
                <a:latin typeface="Arial" panose="020B0604020202020204" pitchFamily="34" charset="0"/>
              </a:rPr>
              <a:t> nisi </a:t>
            </a:r>
            <a:r>
              <a:rPr lang="en-CA" dirty="0" err="1">
                <a:effectLst/>
                <a:latin typeface="Arial" panose="020B0604020202020204" pitchFamily="34" charset="0"/>
              </a:rPr>
              <a:t>ut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aliquip</a:t>
            </a:r>
            <a:r>
              <a:rPr lang="en-CA" dirty="0">
                <a:effectLst/>
                <a:latin typeface="Arial" panose="020B0604020202020204" pitchFamily="34" charset="0"/>
              </a:rPr>
              <a:t> ex </a:t>
            </a:r>
            <a:r>
              <a:rPr lang="en-CA" dirty="0" err="1">
                <a:effectLst/>
                <a:latin typeface="Arial" panose="020B0604020202020204" pitchFamily="34" charset="0"/>
              </a:rPr>
              <a:t>ea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commodo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consequat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CA" dirty="0">
                <a:effectLst/>
                <a:latin typeface="Arial" panose="020B0604020202020204" pitchFamily="34" charset="0"/>
              </a:rPr>
              <a:t>Lorem ipsum dolor sit </a:t>
            </a:r>
            <a:r>
              <a:rPr lang="en-CA" dirty="0" err="1">
                <a:effectLst/>
                <a:latin typeface="Arial" panose="020B0604020202020204" pitchFamily="34" charset="0"/>
              </a:rPr>
              <a:t>amet</a:t>
            </a:r>
            <a:r>
              <a:rPr lang="en-CA" dirty="0">
                <a:effectLst/>
                <a:latin typeface="Arial" panose="020B0604020202020204" pitchFamily="34" charset="0"/>
              </a:rPr>
              <a:t>, </a:t>
            </a:r>
            <a:r>
              <a:rPr lang="en-CA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CA" dirty="0">
                <a:effectLst/>
                <a:latin typeface="Arial" panose="020B0604020202020204" pitchFamily="34" charset="0"/>
              </a:rPr>
              <a:t> </a:t>
            </a:r>
            <a:r>
              <a:rPr lang="en-CA" dirty="0" err="1">
                <a:effectLst/>
                <a:latin typeface="Arial" panose="020B0604020202020204" pitchFamily="34" charset="0"/>
              </a:rPr>
              <a:t>elit</a:t>
            </a:r>
            <a:r>
              <a:rPr lang="en-CA" dirty="0">
                <a:effectLst/>
                <a:latin typeface="Arial" panose="020B0604020202020204" pitchFamily="34" charset="0"/>
              </a:rPr>
              <a:t>, sed do </a:t>
            </a:r>
            <a:r>
              <a:rPr lang="en-CA" dirty="0" err="1">
                <a:effectLst/>
                <a:latin typeface="Arial" panose="020B0604020202020204" pitchFamily="34" charset="0"/>
              </a:rPr>
              <a:t>eiusmod</a:t>
            </a:r>
            <a:r>
              <a:rPr lang="en-CA" dirty="0">
                <a:effectLst/>
                <a:latin typeface="Arial" panose="020B0604020202020204" pitchFamily="34" charset="0"/>
              </a:rPr>
              <a:t>.</a:t>
            </a:r>
          </a:p>
          <a:p>
            <a:endParaRPr lang="en-CA" dirty="0"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AAF9D-40E7-92C1-3A19-A8E0D5F7CA5D}"/>
              </a:ext>
            </a:extLst>
          </p:cNvPr>
          <p:cNvSpPr/>
          <p:nvPr userDrawn="1"/>
        </p:nvSpPr>
        <p:spPr>
          <a:xfrm flipV="1">
            <a:off x="0" y="6457687"/>
            <a:ext cx="9544833" cy="45719"/>
          </a:xfrm>
          <a:prstGeom prst="rect">
            <a:avLst/>
          </a:prstGeom>
          <a:solidFill>
            <a:srgbClr val="FFC6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72A49E-1654-ECBB-68FA-F61CE4792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77400" y="6291102"/>
            <a:ext cx="2291166" cy="378889"/>
          </a:xfrm>
          <a:prstGeom prst="rect">
            <a:avLst/>
          </a:prstGeom>
        </p:spPr>
      </p:pic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AA06BE71-AA93-6E2C-1AC7-393832375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706810"/>
            <a:ext cx="10855961" cy="7463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>
                <a:solidFill>
                  <a:srgbClr val="1247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&amp; CONTENT HEADER</a:t>
            </a:r>
          </a:p>
        </p:txBody>
      </p:sp>
    </p:spTree>
    <p:extLst>
      <p:ext uri="{BB962C8B-B14F-4D97-AF65-F5344CB8AC3E}">
        <p14:creationId xmlns:p14="http://schemas.microsoft.com/office/powerpoint/2010/main" val="187123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292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1" r:id="rId4"/>
    <p:sldLayoutId id="214748365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QP_Nnw_cIgY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336B5-970F-DF85-889B-BD7249A9B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228" y="1221611"/>
            <a:ext cx="10734040" cy="940489"/>
          </a:xfrm>
        </p:spPr>
        <p:txBody>
          <a:bodyPr lIns="91440" tIns="45720" rIns="91440" bIns="45720" anchor="t"/>
          <a:lstStyle/>
          <a:p>
            <a:r>
              <a:rPr lang="en-US" dirty="0">
                <a:latin typeface="Arial"/>
                <a:cs typeface="Arial"/>
              </a:rPr>
              <a:t>MineSweeper CLI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45DDC-E456-C634-CC16-D6A4E88E2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980" y="5022290"/>
            <a:ext cx="10734040" cy="414265"/>
          </a:xfrm>
        </p:spPr>
        <p:txBody>
          <a:bodyPr/>
          <a:lstStyle/>
          <a:p>
            <a:r>
              <a:rPr lang="en-US" sz="2000" dirty="0"/>
              <a:t>Glen Issac (200499313)  |  Shivam J. Soni (200474721)  |  Luka Dundjerovic (200494589)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37353-3083-5B65-8EA6-A0B4B9E17B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9185" y="5838093"/>
            <a:ext cx="2246556" cy="548957"/>
          </a:xfrm>
        </p:spPr>
        <p:txBody>
          <a:bodyPr lIns="91440" tIns="45720" rIns="91440" bIns="45720" anchor="ctr"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/>
                <a:cs typeface="Arial"/>
              </a:rPr>
              <a:t>Week 12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/>
                <a:cs typeface="Arial"/>
              </a:rPr>
              <a:t>April 10, 2026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4737353-3083-5B65-8EA6-A0B4B9E17B21}"/>
              </a:ext>
            </a:extLst>
          </p:cNvPr>
          <p:cNvSpPr txBox="1">
            <a:spLocks/>
          </p:cNvSpPr>
          <p:nvPr/>
        </p:nvSpPr>
        <p:spPr>
          <a:xfrm>
            <a:off x="3101788" y="5838094"/>
            <a:ext cx="2868705" cy="548957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Software Testing and Validation (ENSE 375)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23CF04-DE49-DECF-E6D8-9BF736B967D4}"/>
              </a:ext>
            </a:extLst>
          </p:cNvPr>
          <p:cNvSpPr txBox="1"/>
          <p:nvPr/>
        </p:nvSpPr>
        <p:spPr>
          <a:xfrm>
            <a:off x="8788781" y="178756"/>
            <a:ext cx="3403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highlight>
                  <a:srgbClr val="FFFF00"/>
                </a:highlight>
                <a:hlinkClick r:id="rId2" tooltip="https://youtu.be/QP_Nnw_cIgY"/>
              </a:rPr>
              <a:t>https://youtu.be/QP_Nnw_cIgY</a:t>
            </a:r>
            <a:endParaRPr lang="en-US" sz="16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89738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934B8BB-DC60-91D9-BB97-CD0ED7A48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839433"/>
            <a:ext cx="10376338" cy="4200529"/>
          </a:xfrm>
        </p:spPr>
        <p:txBody>
          <a:bodyPr lIns="91440" tIns="45720" rIns="91440" bIns="4572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Gill Sans MT" panose="020B0502020104020203" pitchFamily="34" charset="0"/>
                <a:cs typeface="Arial"/>
              </a:rPr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Gill Sans MT" panose="020B0502020104020203" pitchFamily="34" charset="0"/>
                <a:cs typeface="Arial"/>
              </a:rPr>
              <a:t>Problem Definition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Gill Sans MT" panose="020B0502020104020203" pitchFamily="34" charset="0"/>
                <a:cs typeface="Arial"/>
              </a:rPr>
              <a:t>Design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Gill Sans MT" panose="020B0502020104020203" pitchFamily="34" charset="0"/>
                <a:cs typeface="Arial"/>
              </a:rPr>
              <a:t>Solutions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Gill Sans MT" panose="020B0502020104020203" pitchFamily="34" charset="0"/>
                <a:cs typeface="Arial"/>
              </a:rPr>
              <a:t>Testing and Demonstration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Gill Sans MT" panose="020B0502020104020203" pitchFamily="34" charset="0"/>
              </a:rPr>
              <a:t>Project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Gill Sans MT" panose="020B0502020104020203" pitchFamily="34" charset="0"/>
              </a:rPr>
              <a:t>Conclusion and Future Scope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394EE-5BBD-124F-85BB-E7D08F3F4C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94398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4080A-A6CB-D688-BD08-2D3DEDC7D4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Arial"/>
                <a:cs typeface="Arial"/>
              </a:rPr>
              <a:t>Introduction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BF0A91F-A47F-14DF-D7A0-2910C289322F}"/>
              </a:ext>
            </a:extLst>
          </p:cNvPr>
          <p:cNvSpPr txBox="1">
            <a:spLocks noChangeArrowheads="1"/>
          </p:cNvSpPr>
          <p:nvPr/>
        </p:nvSpPr>
        <p:spPr>
          <a:xfrm>
            <a:off x="668019" y="1429613"/>
            <a:ext cx="10734440" cy="4610474"/>
          </a:xfrm>
          <a:prstGeom prst="rect">
            <a:avLst/>
          </a:prstGeom>
        </p:spPr>
        <p:txBody>
          <a:bodyPr/>
          <a:lstStyle/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Gill Sans MT" panose="020B0502020104020203" pitchFamily="34" charset="77"/>
                <a:cs typeface="Arial" panose="020B0604020202020204" pitchFamily="34" charset="0"/>
              </a:rPr>
              <a:t>This project develops a command-line Minesweeper application using structured software engineering and testing principles.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Gill Sans MT" panose="020B0502020104020203" pitchFamily="34" charset="77"/>
                <a:cs typeface="Arial" panose="020B0604020202020204" pitchFamily="34" charset="0"/>
              </a:rPr>
              <a:t>Implemented with Test-Driven Development (TDD) and the Model-View-Controller (MVC) architecture to maximize testability.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Gill Sans MT" panose="020B0502020104020203" pitchFamily="34" charset="77"/>
                <a:cs typeface="Arial" panose="020B0604020202020204" pitchFamily="34" charset="0"/>
              </a:rPr>
              <a:t>Minesweeper was chosen for its clear rules and state-based logic, making it well-suited for systematic verification.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Gill Sans MT" panose="020B0502020104020203" pitchFamily="34" charset="77"/>
                <a:cs typeface="Arial" panose="020B0604020202020204" pitchFamily="34" charset="0"/>
              </a:rPr>
              <a:t>Built entirely in Java with JUnit 4 for automated testing. 71 test cases cover path testing, data flow, integration, boundary value, equivalence class, decision table, state transition, and use case testing.</a:t>
            </a:r>
          </a:p>
        </p:txBody>
      </p:sp>
    </p:spTree>
    <p:extLst>
      <p:ext uri="{BB962C8B-B14F-4D97-AF65-F5344CB8AC3E}">
        <p14:creationId xmlns:p14="http://schemas.microsoft.com/office/powerpoint/2010/main" val="2955999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4080A-A6CB-D688-BD08-2D3DEDC7D4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Arial"/>
                <a:cs typeface="Arial"/>
              </a:rPr>
              <a:t>Problem Definition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BF0A91F-A47F-14DF-D7A0-2910C289322F}"/>
              </a:ext>
            </a:extLst>
          </p:cNvPr>
          <p:cNvSpPr txBox="1">
            <a:spLocks noChangeArrowheads="1"/>
          </p:cNvSpPr>
          <p:nvPr/>
        </p:nvSpPr>
        <p:spPr>
          <a:xfrm>
            <a:off x="668019" y="1429613"/>
            <a:ext cx="10734440" cy="46104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200" b="1" dirty="0">
                <a:latin typeface="Gill Sans MT" panose="020B0502020104020203" pitchFamily="34" charset="77"/>
                <a:cs typeface="Arial" panose="020B0604020202020204" pitchFamily="34" charset="0"/>
              </a:rPr>
              <a:t>Design and implement a command-line version of MineSweeper that can be comprehensively tested and validated.</a:t>
            </a:r>
          </a:p>
          <a:p>
            <a:pPr algn="l"/>
            <a:endParaRPr lang="en-US" sz="800" dirty="0"/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Gill Sans MT" panose="020B0502020104020203" pitchFamily="34" charset="77"/>
                <a:cs typeface="Arial" panose="020B0604020202020204" pitchFamily="34" charset="0"/>
              </a:rPr>
              <a:t>Correctly handle grid generation, random mine placement, user input, and game state transitions in a deterministic way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Gill Sans MT" panose="020B0502020104020203" pitchFamily="34" charset="77"/>
                <a:cs typeface="Arial" panose="020B0604020202020204" pitchFamily="34" charset="0"/>
              </a:rPr>
              <a:t>Use MVC architecture to separate concerns, making each component independently testable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Gill Sans MT" panose="020B0502020104020203" pitchFamily="34" charset="77"/>
                <a:cs typeface="Arial" panose="020B0604020202020204" pitchFamily="34" charset="0"/>
              </a:rPr>
              <a:t>Prioritize reliability and sustainability over graphical complexity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Gill Sans MT" panose="020B0502020104020203" pitchFamily="34" charset="77"/>
                <a:cs typeface="Arial" panose="020B0604020202020204" pitchFamily="34" charset="0"/>
              </a:rPr>
              <a:t>Produce deterministic behavior through dependency injection (seeded Random), enabling repeatable test cases</a:t>
            </a:r>
          </a:p>
        </p:txBody>
      </p:sp>
    </p:spTree>
    <p:extLst>
      <p:ext uri="{BB962C8B-B14F-4D97-AF65-F5344CB8AC3E}">
        <p14:creationId xmlns:p14="http://schemas.microsoft.com/office/powerpoint/2010/main" val="2486635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4080A-A6CB-D688-BD08-2D3DEDC7D4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Arial"/>
                <a:cs typeface="Arial"/>
              </a:rPr>
              <a:t>Design Requirements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BF0A91F-A47F-14DF-D7A0-2910C289322F}"/>
              </a:ext>
            </a:extLst>
          </p:cNvPr>
          <p:cNvSpPr txBox="1">
            <a:spLocks noChangeArrowheads="1"/>
          </p:cNvSpPr>
          <p:nvPr/>
        </p:nvSpPr>
        <p:spPr>
          <a:xfrm>
            <a:off x="668019" y="1429613"/>
            <a:ext cx="10734440" cy="46104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200" b="1" dirty="0">
                <a:latin typeface="Gill Sans MT" panose="020B0502020104020203" pitchFamily="34" charset="77"/>
                <a:cs typeface="Arial" panose="020B0604020202020204" pitchFamily="34" charset="0"/>
              </a:rPr>
              <a:t>Functions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Display an m x n minefield grid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Select a spot on the grid (reveal or flag)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Display numbers based on adjacent mine count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Detect and transition between Win / Playing / Loss states</a:t>
            </a:r>
          </a:p>
          <a:p>
            <a:pPr algn="l"/>
            <a:endParaRPr lang="en-US" sz="800" dirty="0"/>
          </a:p>
          <a:p>
            <a:pPr algn="l"/>
            <a:r>
              <a:rPr lang="en-US" sz="2200" b="1" dirty="0">
                <a:latin typeface="Gill Sans MT" panose="020B0502020104020203" pitchFamily="34" charset="77"/>
                <a:cs typeface="Arial" panose="020B0604020202020204" pitchFamily="34" charset="0"/>
              </a:rPr>
              <a:t>Objectives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Clear MVC architecture adherence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Support TDD with well-defined, deterministic test cases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Simple, easy-to-navigate CLI interface</a:t>
            </a:r>
          </a:p>
          <a:p>
            <a:pPr algn="l"/>
            <a:endParaRPr lang="en-US" sz="800" dirty="0"/>
          </a:p>
          <a:p>
            <a:pPr algn="l"/>
            <a:r>
              <a:rPr lang="en-US" sz="2200" b="1" dirty="0">
                <a:latin typeface="Gill Sans MT" panose="020B0502020104020203" pitchFamily="34" charset="77"/>
                <a:cs typeface="Arial" panose="020B0604020202020204" pitchFamily="34" charset="0"/>
              </a:rPr>
              <a:t>Constraints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Must operate exclusively on the command line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Must use MVC architecture with JUnit automated testing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Must produce deterministic, reproducible game behavior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Must be fully executable on a standard Java environment</a:t>
            </a:r>
          </a:p>
        </p:txBody>
      </p:sp>
    </p:spTree>
    <p:extLst>
      <p:ext uri="{BB962C8B-B14F-4D97-AF65-F5344CB8AC3E}">
        <p14:creationId xmlns:p14="http://schemas.microsoft.com/office/powerpoint/2010/main" val="778958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4080A-A6CB-D688-BD08-2D3DEDC7D4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Arial"/>
                <a:cs typeface="Arial"/>
              </a:rPr>
              <a:t>Solutions 1 and 2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BF0A91F-A47F-14DF-D7A0-2910C289322F}"/>
              </a:ext>
            </a:extLst>
          </p:cNvPr>
          <p:cNvSpPr txBox="1">
            <a:spLocks noChangeArrowheads="1"/>
          </p:cNvSpPr>
          <p:nvPr/>
        </p:nvSpPr>
        <p:spPr>
          <a:xfrm>
            <a:off x="668019" y="1429613"/>
            <a:ext cx="10734440" cy="46104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200" b="1" dirty="0">
                <a:latin typeface="Gill Sans MT" panose="020B0502020104020203" pitchFamily="34" charset="77"/>
                <a:cs typeface="Arial" panose="020B0604020202020204" pitchFamily="34" charset="0"/>
              </a:rPr>
              <a:t>Solution 1: Monolithic Single-Class Design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All game logic, rendering, and input in one MineSweeper.java class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Non-deterministic mine placement (Math.random()), tightly coupled I/O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Could not isolate units for testing; path testing was impractical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Rating: Poor for unit isolation, determinism, path testing, and MVC compliance</a:t>
            </a:r>
          </a:p>
          <a:p>
            <a:pPr algn="l"/>
            <a:endParaRPr lang="en-US" sz="800" dirty="0"/>
          </a:p>
          <a:p>
            <a:pPr algn="l"/>
            <a:r>
              <a:rPr lang="en-US" sz="2200" b="1" dirty="0">
                <a:latin typeface="Gill Sans MT" panose="020B0502020104020203" pitchFamily="34" charset="77"/>
                <a:cs typeface="Arial" panose="020B0604020202020204" pitchFamily="34" charset="0"/>
              </a:rPr>
              <a:t>Solution 2: Partial MVC with Separated Model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Split into GameModel.java (logic) and GameApp.java (view + input)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Injected seeded Random for deterministic boards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Model became independently testable, but View and Controller still coupled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Only 1 integration boundary (Model to App); input validation not independently testable</a:t>
            </a:r>
          </a:p>
        </p:txBody>
      </p:sp>
    </p:spTree>
    <p:extLst>
      <p:ext uri="{BB962C8B-B14F-4D97-AF65-F5344CB8AC3E}">
        <p14:creationId xmlns:p14="http://schemas.microsoft.com/office/powerpoint/2010/main" val="100100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4080A-A6CB-D688-BD08-2D3DEDC7D4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Arial"/>
                <a:cs typeface="Arial"/>
              </a:rPr>
              <a:t>Final Solution: Full MVC Architecture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BF0A91F-A47F-14DF-D7A0-2910C289322F}"/>
              </a:ext>
            </a:extLst>
          </p:cNvPr>
          <p:cNvSpPr txBox="1">
            <a:spLocks noChangeArrowheads="1"/>
          </p:cNvSpPr>
          <p:nvPr/>
        </p:nvSpPr>
        <p:spPr>
          <a:xfrm>
            <a:off x="668019" y="1429613"/>
            <a:ext cx="10734440" cy="46104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000" dirty="0">
                <a:latin typeface="Gill Sans MT" panose="020B0502020104020203" pitchFamily="34" charset="77"/>
                <a:cs typeface="Arial" panose="020B0604020202020204" pitchFamily="34" charset="0"/>
              </a:rPr>
              <a:t>Three independent classes, each with a single responsibility:</a:t>
            </a:r>
          </a:p>
          <a:p>
            <a:pPr algn="l"/>
            <a:endParaRPr lang="en-US" sz="800" dirty="0"/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MinesweeperModel: Grid state, mine placement (seeded Random), game logic, GameState enum (PLAYING, WON, LOST)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MinesweeperView: Board rendering with ANSI colors and Unicode borders. Reads model state only, contains no game logic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MinesweeperController: Input parsing, command routing. Scanner injected for testability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App.java: Entry point that wires all three components together</a:t>
            </a:r>
          </a:p>
          <a:p>
            <a:pPr algn="l"/>
            <a:endParaRPr lang="en-US" sz="800" dirty="0"/>
          </a:p>
          <a:p>
            <a:pPr algn="l"/>
            <a:r>
              <a:rPr lang="en-US" sz="2000" b="1" dirty="0">
                <a:latin typeface="Gill Sans MT" panose="020B0502020104020203" pitchFamily="34" charset="77"/>
                <a:cs typeface="Arial" panose="020B0604020202020204" pitchFamily="34" charset="0"/>
              </a:rPr>
              <a:t>Why this solution was selected: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All 3 components testable in isolation with dependency injection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3 integration boundaries (M-V, M-C, M-V-C) for thorough integration testing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Enables all 8 required testing techniques to be applied systematically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GameState enum prevents invalid state transitions</a:t>
            </a:r>
          </a:p>
        </p:txBody>
      </p:sp>
    </p:spTree>
    <p:extLst>
      <p:ext uri="{BB962C8B-B14F-4D97-AF65-F5344CB8AC3E}">
        <p14:creationId xmlns:p14="http://schemas.microsoft.com/office/powerpoint/2010/main" val="100100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4080A-A6CB-D688-BD08-2D3DEDC7D4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Arial"/>
                <a:cs typeface="Arial"/>
              </a:rPr>
              <a:t>Path Testing: revealCell()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BF0A91F-A47F-14DF-D7A0-2910C289322F}"/>
              </a:ext>
            </a:extLst>
          </p:cNvPr>
          <p:cNvSpPr txBox="1">
            <a:spLocks noChangeArrowheads="1"/>
          </p:cNvSpPr>
          <p:nvPr/>
        </p:nvSpPr>
        <p:spPr>
          <a:xfrm>
            <a:off x="668019" y="1429613"/>
            <a:ext cx="10734440" cy="46104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Target: revealCell(int r, int c) in MinesweeperModel</a:t>
            </a:r>
          </a:p>
          <a:p>
            <a:pPr algn="l"/>
            <a:r>
              <a:rPr lang="en-US" sz="1800" b="1" dirty="0">
                <a:latin typeface="Gill Sans MT" panose="020B0502020104020203" pitchFamily="34" charset="77"/>
                <a:cs typeface="Arial" panose="020B0604020202020204" pitchFamily="34" charset="0"/>
              </a:rPr>
              <a:t>6 independent paths identified for full path coverage:</a:t>
            </a:r>
          </a:p>
          <a:p>
            <a:pPr algn="l"/>
            <a:endParaRPr lang="en-US" sz="600" dirty="0"/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77"/>
                <a:cs typeface="Arial" panose="020B0604020202020204" pitchFamily="34" charset="0"/>
              </a:rPr>
              <a:t>Path A: gameState != PLAYING (return false, game already ended)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77"/>
                <a:cs typeface="Arial" panose="020B0604020202020204" pitchFamily="34" charset="0"/>
              </a:rPr>
              <a:t>Path B: Out of bounds, !isInBounds (return false)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77"/>
                <a:cs typeface="Arial" panose="020B0604020202020204" pitchFamily="34" charset="0"/>
              </a:rPr>
              <a:t>Path C: Cell already revealed OR flagged (return false)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77"/>
                <a:cs typeface="Arial" panose="020B0604020202020204" pitchFamily="34" charset="0"/>
              </a:rPr>
              <a:t>Path D: Cell is a mine (set state to LOST, reveal all mines, return true)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77"/>
                <a:cs typeface="Arial" panose="020B0604020202020204" pitchFamily="34" charset="0"/>
              </a:rPr>
              <a:t>Path E: Adjacent mine count &gt; 0 (reveal cell, check win, return true)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77"/>
                <a:cs typeface="Arial" panose="020B0604020202020204" pitchFamily="34" charset="0"/>
              </a:rPr>
              <a:t>Path F: Adjacent mine count = 0 (flood-fill neighbors, check win, return true)</a:t>
            </a:r>
          </a:p>
          <a:p>
            <a:pPr algn="l"/>
            <a:endParaRPr lang="en-US" sz="600" dirty="0"/>
          </a:p>
          <a:p>
            <a:pPr algn="l"/>
            <a:r>
              <a:rPr lang="en-US" sz="1800" b="1" dirty="0">
                <a:latin typeface="Gill Sans MT" panose="020B0502020104020203" pitchFamily="34" charset="77"/>
                <a:cs typeface="Arial" panose="020B0604020202020204" pitchFamily="34" charset="0"/>
              </a:rPr>
              <a:t>9 test cases written, all passed: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77"/>
                <a:cs typeface="Arial" panose="020B0604020202020204" pitchFamily="34" charset="0"/>
              </a:rPr>
              <a:t>Includes edge cases: negative row, column too large, reveal after game over, double reveal</a:t>
            </a:r>
          </a:p>
        </p:txBody>
      </p:sp>
    </p:spTree>
    <p:extLst>
      <p:ext uri="{BB962C8B-B14F-4D97-AF65-F5344CB8AC3E}">
        <p14:creationId xmlns:p14="http://schemas.microsoft.com/office/powerpoint/2010/main" val="148938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4080A-A6CB-D688-BD08-2D3DEDC7D4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Arial"/>
                <a:cs typeface="Arial"/>
              </a:rPr>
              <a:t>Data Flow: countAdjacentMines()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BF0A91F-A47F-14DF-D7A0-2910C289322F}"/>
              </a:ext>
            </a:extLst>
          </p:cNvPr>
          <p:cNvSpPr txBox="1">
            <a:spLocks noChangeArrowheads="1"/>
          </p:cNvSpPr>
          <p:nvPr/>
        </p:nvSpPr>
        <p:spPr>
          <a:xfrm>
            <a:off x="668019" y="1429613"/>
            <a:ext cx="10734440" cy="46104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Target: countAdjacentMines(int r, int c)</a:t>
            </a:r>
          </a:p>
          <a:p>
            <a:pPr algn="l"/>
            <a:r>
              <a:rPr lang="en-US" sz="1800" b="1" dirty="0">
                <a:latin typeface="Gill Sans MT" panose="020B0502020104020203" pitchFamily="34" charset="77"/>
                <a:cs typeface="Arial" panose="020B0604020202020204" pitchFamily="34" charset="0"/>
              </a:rPr>
              <a:t>Coverage Criterion: All-Uses (every def-use pair exercised)</a:t>
            </a:r>
          </a:p>
          <a:p>
            <a:pPr algn="l"/>
            <a:endParaRPr lang="en-US" sz="600" dirty="0"/>
          </a:p>
          <a:p>
            <a:pPr algn="l"/>
            <a:r>
              <a:rPr lang="en-US" sz="1800" b="1" dirty="0">
                <a:latin typeface="Gill Sans MT" panose="020B0502020104020203" pitchFamily="34" charset="77"/>
                <a:cs typeface="Arial" panose="020B0604020202020204" pitchFamily="34" charset="0"/>
              </a:rPr>
              <a:t>Variables tracked: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count: defined at init (0), used at increment and return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nr, nc: defined from r+dr, c+dc, used in bounds check and mine array access</a:t>
            </a:r>
          </a:p>
          <a:p>
            <a:pPr algn="l"/>
            <a:endParaRPr lang="en-US" sz="600" dirty="0"/>
          </a:p>
          <a:p>
            <a:pPr algn="l"/>
            <a:r>
              <a:rPr lang="en-US" sz="1800" b="1" dirty="0">
                <a:latin typeface="Gill Sans MT" panose="020B0502020104020203" pitchFamily="34" charset="77"/>
                <a:cs typeface="Arial" panose="020B0604020202020204" pitchFamily="34" charset="0"/>
              </a:rPr>
              <a:t>5 Def-Use Pairs: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DU1: count def -&gt; return (zero mines case)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DU2: count def -&gt; increment -&gt; return (nonzero mines)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DU3: nr def -&gt; bounds check (neighbor row out of range)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DU4: nc def -&gt; bounds check (neighbor col out of range)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DU5: nr,nc both in bounds -&gt; mine array access</a:t>
            </a:r>
          </a:p>
          <a:p>
            <a:pPr algn="l"/>
            <a:endParaRPr lang="en-US" sz="600" dirty="0"/>
          </a:p>
          <a:p>
            <a:pPr algn="l"/>
            <a:r>
              <a:rPr lang="en-US" sz="1600" dirty="0">
                <a:latin typeface="Gill Sans MT" panose="020B0502020104020203" pitchFamily="34" charset="77"/>
                <a:cs typeface="Arial" panose="020B0604020202020204" pitchFamily="34" charset="0"/>
              </a:rPr>
              <a:t>5 test cases: zero mines, with mines, corner (0,0), edge (0,1), center (1,1)</a:t>
            </a:r>
          </a:p>
          <a:p>
            <a:pPr algn="l"/>
            <a:r>
              <a:rPr lang="en-US" sz="1600" b="1" dirty="0">
                <a:latin typeface="Gill Sans MT" panose="020B0502020104020203" pitchFamily="34" charset="77"/>
                <a:cs typeface="Arial" panose="020B0604020202020204" pitchFamily="34" charset="0"/>
              </a:rPr>
              <a:t>Result: All 5 passed. All-Uses coverage achieved.</a:t>
            </a:r>
          </a:p>
        </p:txBody>
      </p:sp>
    </p:spTree>
    <p:extLst>
      <p:ext uri="{BB962C8B-B14F-4D97-AF65-F5344CB8AC3E}">
        <p14:creationId xmlns:p14="http://schemas.microsoft.com/office/powerpoint/2010/main" val="148938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4080A-A6CB-D688-BD08-2D3DEDC7D4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Arial"/>
                <a:cs typeface="Arial"/>
              </a:rPr>
              <a:t>Integration Testing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BF0A91F-A47F-14DF-D7A0-2910C289322F}"/>
              </a:ext>
            </a:extLst>
          </p:cNvPr>
          <p:cNvSpPr txBox="1">
            <a:spLocks noChangeArrowheads="1"/>
          </p:cNvSpPr>
          <p:nvPr/>
        </p:nvSpPr>
        <p:spPr>
          <a:xfrm>
            <a:off x="668019" y="1429613"/>
            <a:ext cx="10734440" cy="46104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Strategy: Bottom-up (Model first, then View, then Controller, then full MVC)</a:t>
            </a:r>
          </a:p>
          <a:p>
            <a:pPr algn="l"/>
            <a:r>
              <a:rPr lang="en-US" sz="1800" b="1" dirty="0">
                <a:latin typeface="Gill Sans MT" panose="020B0502020104020203" pitchFamily="34" charset="77"/>
                <a:cs typeface="Arial" panose="020B0604020202020204" pitchFamily="34" charset="0"/>
              </a:rPr>
              <a:t>3 integration boundaries tested with 9 test cases:</a:t>
            </a:r>
          </a:p>
          <a:p>
            <a:pPr algn="l"/>
            <a:endParaRPr lang="en-US" sz="600" dirty="0"/>
          </a:p>
          <a:p>
            <a:pPr algn="l"/>
            <a:r>
              <a:rPr lang="en-US" sz="1800" b="1" dirty="0">
                <a:latin typeface="Gill Sans MT" panose="020B0502020104020203" pitchFamily="34" charset="77"/>
                <a:cs typeface="Arial" panose="020B0604020202020204" pitchFamily="34" charset="0"/>
              </a:rPr>
              <a:t>Model + View (4 tests)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View reads Model state and renders board with headers and dots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View shows revealed cells, flagged cells (F), and mines (*) after game over</a:t>
            </a:r>
          </a:p>
          <a:p>
            <a:pPr algn="l"/>
            <a:endParaRPr lang="en-US" sz="600" dirty="0"/>
          </a:p>
          <a:p>
            <a:pPr algn="l"/>
            <a:r>
              <a:rPr lang="en-US" sz="1800" b="1" dirty="0">
                <a:latin typeface="Gill Sans MT" panose="020B0502020104020203" pitchFamily="34" charset="77"/>
                <a:cs typeface="Arial" panose="020B0604020202020204" pitchFamily="34" charset="0"/>
              </a:rPr>
              <a:t>Model + Controller (3 tests)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Controller parses "row col" to reveal and "f row col" to flag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Controller handles invalid input gracefully with error message, no crash</a:t>
            </a:r>
          </a:p>
          <a:p>
            <a:pPr algn="l"/>
            <a:endParaRPr lang="en-US" sz="600" dirty="0"/>
          </a:p>
          <a:p>
            <a:pPr algn="l"/>
            <a:r>
              <a:rPr lang="en-US" sz="1800" b="1" dirty="0">
                <a:latin typeface="Gill Sans MT" panose="020B0502020104020203" pitchFamily="34" charset="77"/>
                <a:cs typeface="Arial" panose="020B0604020202020204" pitchFamily="34" charset="0"/>
              </a:rPr>
              <a:t>Full MVC (2 tests)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Complete game loss flow: state = LOST, "Game Over" displayed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Complete game win flow: state = WON, "Congratulations" displayed</a:t>
            </a:r>
          </a:p>
          <a:p>
            <a:pPr algn="l"/>
            <a:endParaRPr lang="en-US" sz="600" dirty="0"/>
          </a:p>
          <a:p>
            <a:pPr algn="l"/>
            <a:r>
              <a:rPr lang="en-US" sz="1600" b="1" dirty="0">
                <a:latin typeface="Gill Sans MT" panose="020B0502020104020203" pitchFamily="34" charset="77"/>
                <a:cs typeface="Arial" panose="020B0604020202020204" pitchFamily="34" charset="0"/>
              </a:rPr>
              <a:t>Result: All 9 integration tests passed.</a:t>
            </a:r>
          </a:p>
        </p:txBody>
      </p:sp>
    </p:spTree>
    <p:extLst>
      <p:ext uri="{BB962C8B-B14F-4D97-AF65-F5344CB8AC3E}">
        <p14:creationId xmlns:p14="http://schemas.microsoft.com/office/powerpoint/2010/main" val="148938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4080A-A6CB-D688-BD08-2D3DEDC7D4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Arial"/>
                <a:cs typeface="Arial"/>
              </a:rPr>
              <a:t>Boundary Value and Equivalence Class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BF0A91F-A47F-14DF-D7A0-2910C289322F}"/>
              </a:ext>
            </a:extLst>
          </p:cNvPr>
          <p:cNvSpPr txBox="1">
            <a:spLocks noChangeArrowheads="1"/>
          </p:cNvSpPr>
          <p:nvPr/>
        </p:nvSpPr>
        <p:spPr>
          <a:xfrm>
            <a:off x="668019" y="1429613"/>
            <a:ext cx="10734440" cy="46104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000" b="1" dirty="0">
                <a:latin typeface="Gill Sans MT" panose="020B0502020104020203" pitchFamily="34" charset="77"/>
                <a:cs typeface="Arial" panose="020B0604020202020204" pitchFamily="34" charset="0"/>
              </a:rPr>
              <a:t>Boundary Value Testing (7 tests)</a:t>
            </a:r>
          </a:p>
          <a:p>
            <a:pPr algn="l"/>
            <a:r>
              <a:rPr lang="en-US" sz="1600" dirty="0">
                <a:latin typeface="Gill Sans MT" panose="020B0502020104020203" pitchFamily="34" charset="77"/>
                <a:cs typeface="Arial" panose="020B0604020202020204" pitchFamily="34" charset="0"/>
              </a:rPr>
              <a:t>Target: revealCell(row, col) on 8x8 grid. Boundaries: Row [0,7], Col [0,7]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Min valid: (0, 0) -&gt; true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Max valid: (7, 7) -&gt; true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Below min: (-1, 0) and (0, -1) -&gt; false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Above max: (8, 0) and (0, 8) -&gt; false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Far out of bounds: (100, 100) -&gt; false</a:t>
            </a:r>
          </a:p>
          <a:p>
            <a:pPr algn="l"/>
            <a:endParaRPr lang="en-US" sz="600" dirty="0"/>
          </a:p>
          <a:p>
            <a:pPr algn="l"/>
            <a:r>
              <a:rPr lang="en-US" sz="2000" b="1" dirty="0">
                <a:latin typeface="Gill Sans MT" panose="020B0502020104020203" pitchFamily="34" charset="77"/>
                <a:cs typeface="Arial" panose="020B0604020202020204" pitchFamily="34" charset="0"/>
              </a:rPr>
              <a:t>Equivalence Class Testing (7 tests)</a:t>
            </a:r>
          </a:p>
          <a:p>
            <a:pPr algn="l"/>
            <a:r>
              <a:rPr lang="en-US" sz="1600" dirty="0">
                <a:latin typeface="Gill Sans MT" panose="020B0502020104020203" pitchFamily="34" charset="77"/>
                <a:cs typeface="Arial" panose="020B0604020202020204" pitchFamily="34" charset="0"/>
              </a:rPr>
              <a:t>Target: revealCell and toggleFlag coordinate and state inputs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Valid class: coordinates in [0, rows-1] x [0, cols-1], cell unrevealed and unflagged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Invalid (coordinates): negative values, values &gt;= grid size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Invalid (state): cell already revealed, cell already flagged (for reveal)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Valid flag: unrevealed cell -&gt; true, isFlagged = true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Invalid flag on revealed cell -&gt; false</a:t>
            </a:r>
          </a:p>
          <a:p>
            <a:pPr algn="l"/>
            <a:endParaRPr lang="en-US" sz="600" dirty="0"/>
          </a:p>
          <a:p>
            <a:pPr algn="l"/>
            <a:r>
              <a:rPr lang="en-US" sz="1600" b="1" dirty="0">
                <a:latin typeface="Gill Sans MT" panose="020B0502020104020203" pitchFamily="34" charset="77"/>
                <a:cs typeface="Arial" panose="020B0604020202020204" pitchFamily="34" charset="0"/>
              </a:rPr>
              <a:t>Result: All 14 tests passed.</a:t>
            </a:r>
          </a:p>
        </p:txBody>
      </p:sp>
    </p:spTree>
    <p:extLst>
      <p:ext uri="{BB962C8B-B14F-4D97-AF65-F5344CB8AC3E}">
        <p14:creationId xmlns:p14="http://schemas.microsoft.com/office/powerpoint/2010/main" val="148938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4080A-A6CB-D688-BD08-2D3DEDC7D4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Arial"/>
                <a:cs typeface="Arial"/>
              </a:rPr>
              <a:t>Decision Table and State Transition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BF0A91F-A47F-14DF-D7A0-2910C289322F}"/>
              </a:ext>
            </a:extLst>
          </p:cNvPr>
          <p:cNvSpPr txBox="1">
            <a:spLocks noChangeArrowheads="1"/>
          </p:cNvSpPr>
          <p:nvPr/>
        </p:nvSpPr>
        <p:spPr>
          <a:xfrm>
            <a:off x="668019" y="1429613"/>
            <a:ext cx="10734440" cy="46104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000" b="1" dirty="0">
                <a:latin typeface="Gill Sans MT" panose="020B0502020104020203" pitchFamily="34" charset="77"/>
                <a:cs typeface="Arial" panose="020B0604020202020204" pitchFamily="34" charset="0"/>
              </a:rPr>
              <a:t>Decision Table Testing (5 tests)</a:t>
            </a:r>
          </a:p>
          <a:p>
            <a:pPr algn="l"/>
            <a:r>
              <a:rPr lang="en-US" sz="1600" dirty="0">
                <a:latin typeface="Gill Sans MT" panose="020B0502020104020203" pitchFamily="34" charset="77"/>
                <a:cs typeface="Arial" panose="020B0604020202020204" pitchFamily="34" charset="0"/>
              </a:rPr>
              <a:t>Target: revealCell outcome based on input conditions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Rule 1: Not in bounds -&gt; return false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Rule 2: In bounds but already revealed -&gt; return false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Rule 3: In bounds, not revealed, cell is mine -&gt; state = LOST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Rule 4: In bounds, not revealed, not mine, adjacent &gt; 0 -&gt; reveal with count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Rule 5: In bounds, not revealed, not mine, adjacent = 0 -&gt; flood-fill</a:t>
            </a:r>
          </a:p>
          <a:p>
            <a:pPr algn="l"/>
            <a:endParaRPr lang="en-US" sz="600" dirty="0"/>
          </a:p>
          <a:p>
            <a:pPr algn="l"/>
            <a:r>
              <a:rPr lang="en-US" sz="2000" b="1" dirty="0">
                <a:latin typeface="Gill Sans MT" panose="020B0502020104020203" pitchFamily="34" charset="77"/>
                <a:cs typeface="Arial" panose="020B0604020202020204" pitchFamily="34" charset="0"/>
              </a:rPr>
              <a:t>State Transition Testing (5 tests)</a:t>
            </a:r>
          </a:p>
          <a:p>
            <a:pPr algn="l"/>
            <a:r>
              <a:rPr lang="en-US" sz="1600" dirty="0">
                <a:latin typeface="Gill Sans MT" panose="020B0502020104020203" pitchFamily="34" charset="77"/>
                <a:cs typeface="Arial" panose="020B0604020202020204" pitchFamily="34" charset="0"/>
              </a:rPr>
              <a:t>States: PLAYING, WON, LOST (GameState enum)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PLAYING + reveal safe cell -&gt; PLAYING (game continues)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PLAYING + reveal last safe cell -&gt; WON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PLAYING + reveal mine -&gt; LOST (all mines revealed)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LOST + any action (reveal/flag) -&gt; LOST (rejected, return false)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WON + any action (reveal/flag) -&gt; WON (rejected, return false)</a:t>
            </a:r>
          </a:p>
          <a:p>
            <a:pPr algn="l"/>
            <a:endParaRPr lang="en-US" sz="600" dirty="0"/>
          </a:p>
          <a:p>
            <a:pPr algn="l"/>
            <a:r>
              <a:rPr lang="en-US" sz="1600" b="1" dirty="0">
                <a:latin typeface="Gill Sans MT" panose="020B0502020104020203" pitchFamily="34" charset="77"/>
                <a:cs typeface="Arial" panose="020B0604020202020204" pitchFamily="34" charset="0"/>
              </a:rPr>
              <a:t>Result: All 10 tests passed.</a:t>
            </a:r>
          </a:p>
        </p:txBody>
      </p:sp>
    </p:spTree>
    <p:extLst>
      <p:ext uri="{BB962C8B-B14F-4D97-AF65-F5344CB8AC3E}">
        <p14:creationId xmlns:p14="http://schemas.microsoft.com/office/powerpoint/2010/main" val="148938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4080A-A6CB-D688-BD08-2D3DEDC7D4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Arial"/>
                <a:cs typeface="Arial"/>
              </a:rPr>
              <a:t>Use Case Testing and Test Suite Summary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BF0A91F-A47F-14DF-D7A0-2910C289322F}"/>
              </a:ext>
            </a:extLst>
          </p:cNvPr>
          <p:cNvSpPr txBox="1">
            <a:spLocks noChangeArrowheads="1"/>
          </p:cNvSpPr>
          <p:nvPr/>
        </p:nvSpPr>
        <p:spPr>
          <a:xfrm>
            <a:off x="668019" y="1429613"/>
            <a:ext cx="10734440" cy="46104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000" b="1" dirty="0">
                <a:latin typeface="Gill Sans MT" panose="020B0502020104020203" pitchFamily="34" charset="77"/>
                <a:cs typeface="Arial" panose="020B0604020202020204" pitchFamily="34" charset="0"/>
              </a:rPr>
              <a:t>Use Case Testing (5 tests)</a:t>
            </a:r>
          </a:p>
          <a:p>
            <a:pPr algn="l"/>
            <a:r>
              <a:rPr lang="en-US" sz="1600" dirty="0">
                <a:latin typeface="Gill Sans MT" panose="020B0502020104020203" pitchFamily="34" charset="77"/>
                <a:cs typeface="Arial" panose="020B0604020202020204" pitchFamily="34" charset="0"/>
              </a:rPr>
              <a:t>Actor: Player (interacting via CLI)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Happy Path: enter "row col" for safe cell -&gt; cell revealed, game continues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Happy Path: enter "f row col" twice -&gt; cell flagged then unflagged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Happy Path: reveal all safe cells -&gt; WON, congratulations displayed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Exception Path: enter mine position -&gt; LOST, all mines shown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Exception Path: enter invalid input "hello world" -&gt; error message, game continues</a:t>
            </a:r>
          </a:p>
          <a:p>
            <a:pPr algn="l"/>
            <a:endParaRPr lang="en-US" sz="600" dirty="0"/>
          </a:p>
          <a:p>
            <a:pPr algn="l"/>
            <a:r>
              <a:rPr lang="en-US" sz="2200" b="1" dirty="0">
                <a:latin typeface="Gill Sans MT" panose="020B0502020104020203" pitchFamily="34" charset="77"/>
                <a:cs typeface="Arial" panose="020B0604020202020204" pitchFamily="34" charset="0"/>
              </a:rPr>
              <a:t>Test Suite Execution Summary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Constructor and Initialization: 6 passed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isInBounds: 6 passed | toggleFlag: 5 passed | Win Condition: 2 passed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Path Testing (revealCell): 9 passed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Data Flow (countAdjacentMines): 5 passed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Integration Testing: 9 passed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Boundary Value: 7 | Equivalence Class: 7 | Decision Table: 5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Gill Sans MT" panose="020B0502020104020203" pitchFamily="34" charset="77"/>
                <a:cs typeface="Arial" panose="020B0604020202020204" pitchFamily="34" charset="0"/>
              </a:rPr>
              <a:t>State Transition: 5 | Use Case: 5</a:t>
            </a:r>
          </a:p>
          <a:p>
            <a:pPr algn="l"/>
            <a:endParaRPr lang="en-US" sz="600" dirty="0"/>
          </a:p>
          <a:p>
            <a:pPr algn="l"/>
            <a:r>
              <a:rPr lang="en-US" sz="2000" b="1" dirty="0">
                <a:latin typeface="Gill Sans MT" panose="020B0502020104020203" pitchFamily="34" charset="77"/>
                <a:cs typeface="Arial" panose="020B0604020202020204" pitchFamily="34" charset="0"/>
              </a:rPr>
              <a:t>Total: 71 tests, 71 passed, 0 failed</a:t>
            </a:r>
          </a:p>
        </p:txBody>
      </p:sp>
    </p:spTree>
    <p:extLst>
      <p:ext uri="{BB962C8B-B14F-4D97-AF65-F5344CB8AC3E}">
        <p14:creationId xmlns:p14="http://schemas.microsoft.com/office/powerpoint/2010/main" val="148938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4080A-A6CB-D688-BD08-2D3DEDC7D4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Arial"/>
                <a:cs typeface="Arial"/>
              </a:rPr>
              <a:t>Project Management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BF0A91F-A47F-14DF-D7A0-2910C289322F}"/>
              </a:ext>
            </a:extLst>
          </p:cNvPr>
          <p:cNvSpPr txBox="1">
            <a:spLocks noChangeArrowheads="1"/>
          </p:cNvSpPr>
          <p:nvPr/>
        </p:nvSpPr>
        <p:spPr>
          <a:xfrm>
            <a:off x="668019" y="1329613"/>
            <a:ext cx="10734440" cy="180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b="1" dirty="0">
                <a:latin typeface="Gill Sans MT" panose="020B0502020104020203" pitchFamily="34" charset="77"/>
                <a:cs typeface="Arial" panose="020B0604020202020204" pitchFamily="34" charset="0"/>
              </a:rPr>
              <a:t>Team Roles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  <a:cs typeface="Arial" panose="020B0604020202020204" pitchFamily="34" charset="0"/>
              </a:rPr>
              <a:t>Glen Issac: Model implementation, path testing, report lead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  <a:cs typeface="Arial" panose="020B0604020202020204" pitchFamily="34" charset="0"/>
              </a:rPr>
              <a:t>Shivam J. Soni: Controller implementation, integration testing, repo management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  <a:cs typeface="Arial" panose="020B0604020202020204" pitchFamily="34" charset="0"/>
              </a:rPr>
              <a:t>Luka Dundjerovic: View implementation, validation testing, data flow testing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  <a:cs typeface="Arial" panose="020B0604020202020204" pitchFamily="34" charset="0"/>
              </a:rPr>
              <a:t>Collaboration: Weekly meetings (in-person + Discord), GitHub for review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7D856DEF-ABDA-5729-0D9A-02D44E4E0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47" y="3004262"/>
            <a:ext cx="1140142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506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4080A-A6CB-D688-BD08-2D3DEDC7D4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8019" y="546776"/>
            <a:ext cx="10855961" cy="746360"/>
          </a:xfrm>
        </p:spPr>
        <p:txBody>
          <a:bodyPr lIns="91440" tIns="45720" rIns="91440" bIns="45720" anchor="t"/>
          <a:lstStyle/>
          <a:p>
            <a:r>
              <a:rPr lang="en-US" sz="4400" dirty="0">
                <a:latin typeface="Arial"/>
                <a:cs typeface="Arial"/>
              </a:rPr>
              <a:t>Conclusion and Future Work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BF0A91F-A47F-14DF-D7A0-2910C289322F}"/>
              </a:ext>
            </a:extLst>
          </p:cNvPr>
          <p:cNvSpPr txBox="1">
            <a:spLocks noChangeArrowheads="1"/>
          </p:cNvSpPr>
          <p:nvPr/>
        </p:nvSpPr>
        <p:spPr>
          <a:xfrm>
            <a:off x="668019" y="1429613"/>
            <a:ext cx="10734440" cy="46104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200" b="1" dirty="0">
                <a:latin typeface="Gill Sans MT" panose="020B0502020104020203" pitchFamily="34" charset="77"/>
                <a:cs typeface="Arial" panose="020B0604020202020204" pitchFamily="34" charset="0"/>
              </a:rPr>
              <a:t>What we achieved: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Fully functional CLI Minesweeper with complete MVC separation and dependency injection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71 deterministic JUnit test cases covering all 8 required testing techniques, with 100% pass rate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All design constraints satisfied: economic, reliability, sustainability, ethics</a:t>
            </a:r>
          </a:p>
          <a:p>
            <a:pPr algn="l"/>
            <a:endParaRPr lang="en-US" sz="800" dirty="0"/>
          </a:p>
          <a:p>
            <a:pPr algn="l"/>
            <a:r>
              <a:rPr lang="en-US" sz="2200" b="1" dirty="0">
                <a:latin typeface="Gill Sans MT" panose="020B0502020104020203" pitchFamily="34" charset="77"/>
                <a:cs typeface="Arial" panose="020B0604020202020204" pitchFamily="34" charset="0"/>
              </a:rPr>
              <a:t>Limitations and Future Work: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Text-only interface limits accessibility; a GUI layer could be added on top of MVC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Fixed grid size; could add configurable difficulty levels</a:t>
            </a:r>
          </a:p>
          <a:p>
            <a:pPr marL="311150" lvl="2" indent="-3048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Gill Sans MT" panose="020B0502020104020203" pitchFamily="34" charset="77"/>
                <a:cs typeface="Arial" panose="020B0604020202020204" pitchFamily="34" charset="0"/>
              </a:rPr>
              <a:t>No persistent scoreboard or timer; future versions could add file-based tracking</a:t>
            </a:r>
          </a:p>
        </p:txBody>
      </p:sp>
    </p:spTree>
    <p:extLst>
      <p:ext uri="{BB962C8B-B14F-4D97-AF65-F5344CB8AC3E}">
        <p14:creationId xmlns:p14="http://schemas.microsoft.com/office/powerpoint/2010/main" val="2852486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13647</TotalTime>
  <Words>1693</Words>
  <Application>Microsoft Office PowerPoint</Application>
  <PresentationFormat>Widescreen</PresentationFormat>
  <Paragraphs>194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Gill Sans MT</vt:lpstr>
      <vt:lpstr>Office Theme</vt:lpstr>
      <vt:lpstr>MineSweeper CLI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Haley Nicolson</dc:creator>
  <cp:lastModifiedBy>Shivam Soni</cp:lastModifiedBy>
  <cp:revision>1167</cp:revision>
  <cp:lastPrinted>2023-05-16T09:29:54Z</cp:lastPrinted>
  <dcterms:created xsi:type="dcterms:W3CDTF">2023-02-16T16:25:29Z</dcterms:created>
  <dcterms:modified xsi:type="dcterms:W3CDTF">2026-04-11T05:49:42Z</dcterms:modified>
</cp:coreProperties>
</file>